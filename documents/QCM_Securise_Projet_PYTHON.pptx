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B54-4446-942E-64B0A472D4F3}"/>
              </c:ext>
            </c:extLst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B54-4446-942E-64B0A472D4F3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B54-4446-942E-64B0A472D4F3}"/>
              </c:ext>
            </c:extLst>
          </c:dPt>
          <c:dPt>
            <c:idx val="3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B54-4446-942E-64B0A472D4F3}"/>
              </c:ext>
            </c:extLst>
          </c:dPt>
          <c:dPt>
            <c:idx val="4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B54-4446-942E-64B0A472D4F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B54-4446-942E-64B0A472D4F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B54-4446-942E-64B0A472D4F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B54-4446-942E-64B0A472D4F3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B54-4446-942E-64B0A472D4F3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B54-4446-942E-64B0A472D4F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Réseaux</c:v>
                </c:pt>
                <c:pt idx="1">
                  <c:v>Sécurité</c:v>
                </c:pt>
                <c:pt idx="2">
                  <c:v>Système</c:v>
                </c:pt>
                <c:pt idx="3">
                  <c:v>Prog.</c:v>
                </c:pt>
                <c:pt idx="4">
                  <c:v>BDD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  <c:pt idx="4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B54-4446-942E-64B0A472D4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Heures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CA1-4816-B834-D091017B86D1}"/>
              </c:ext>
            </c:extLst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CA1-4816-B834-D091017B86D1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CA1-4816-B834-D091017B86D1}"/>
              </c:ext>
            </c:extLst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CA1-4816-B834-D091017B86D1}"/>
              </c:ext>
            </c:extLst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CA1-4816-B834-D091017B86D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Youssef
BDD &amp; Modèles</c:v>
                </c:pt>
                <c:pt idx="1">
                  <c:v>Salim
Templates</c:v>
                </c:pt>
                <c:pt idx="2">
                  <c:v>Hugo
Routes</c:v>
                </c:pt>
                <c:pt idx="3">
                  <c:v>Malcolm
Auth &amp; JS</c:v>
                </c:pt>
                <c:pt idx="4">
                  <c:v>Tests &amp;
Doc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39</c:v>
                </c:pt>
                <c:pt idx="2">
                  <c:v>87</c:v>
                </c:pt>
                <c:pt idx="3">
                  <c:v>53</c:v>
                </c:pt>
                <c:pt idx="4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CA1-4816-B834-D091017B86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680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64008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8229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QCM Sécurisé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57200" y="1828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d'évaluation sécurisée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2395728"/>
            <a:ext cx="3200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57200" y="2578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2 · LP ASSR – UPEC / Bachelor PST&amp;B · Mai 2026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154680"/>
            <a:ext cx="1920240" cy="658368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57200" y="3154680"/>
            <a:ext cx="1920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457200" y="32552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KAROUITE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35478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&amp; Modèles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560320" y="3154680"/>
            <a:ext cx="1920240" cy="658368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2560320" y="3154680"/>
            <a:ext cx="19202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2560320" y="32552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Salim DAHOUMANE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560320" y="35478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Config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63440" y="3154680"/>
            <a:ext cx="1920240" cy="658368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4663440" y="3154680"/>
            <a:ext cx="1920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4663440" y="32552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Hugo LECOMTE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663440" y="35478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métier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766560" y="3154680"/>
            <a:ext cx="1920240" cy="658368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6766560" y="3154680"/>
            <a:ext cx="19202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6766560" y="32552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Malcom CAMACHO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766560" y="35478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JS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4160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54864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93192" y="1170432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0976" y="117043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50976" y="15544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Cadre, besoins, périmètre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115568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754880" y="1115568"/>
            <a:ext cx="54864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873752" y="1170432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31536" y="117043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31536" y="15544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MVC, structure des fichiers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075688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274320" y="2075688"/>
            <a:ext cx="54864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93192" y="2130552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0976" y="213055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Rôles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0976" y="25146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lots · 246h · 4 développeurs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075688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754880" y="2075688"/>
            <a:ext cx="54864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873752" y="2130552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31536" y="213055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Étudiants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31536" y="25146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QCM, timer 30s, anti-triche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035808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274320" y="3035808"/>
            <a:ext cx="54864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93192" y="3090672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50976" y="309067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Administrateur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50976" y="34747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stats, exports CSV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035808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4754880" y="3035808"/>
            <a:ext cx="54864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873752" y="3090672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31536" y="309067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31536" y="34747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bcrypt, 2FA TOTP, CSRF, XSS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995928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274320" y="3995928"/>
            <a:ext cx="54864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393192" y="4050792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50976" y="405079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Planning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50976" y="443484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246h · 10 763 € HT · 13 jours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995928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4754880" y="3995928"/>
            <a:ext cx="54864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873752" y="4050792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431536" y="405079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Perspectives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31536" y="443484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· Améliorations futures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Contexte &amp; Objectifs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académique LP ASSR – UPEC / PST&amp;B · Mai 2026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de 4 étudiants · Encadrant : LP ASSR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d'évaluation en culture informatique simulant des conditions d'examen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QCMs existants insuffisamment sécurisés et facilement contournables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: étudiants de filières IT (desktop + tablette)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11155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démontrées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508760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800600" y="1536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 Blueprints / Jinja2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18105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web Python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2194560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800600" y="2221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· bcrypt · CSRF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2496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applicative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880360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800600" y="2907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· SQLite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31821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&amp; base de données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3566160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800600" y="35935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Fullscreen API · visibilitychange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8679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moderne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4251960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00600" y="4279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répartition des tâches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45537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collaboratif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Architecture Technique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MVC adapté à Flask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274320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709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75104"/>
            <a:ext cx="274320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74320" y="2011680"/>
            <a:ext cx="27432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classes SQLAlchemy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Relations, cascade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98448"/>
            <a:ext cx="2743200" cy="1188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200400" y="13258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0" y="1709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975104"/>
            <a:ext cx="274320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200400" y="2011680"/>
            <a:ext cx="27432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+ Bootstrap 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templates HTML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298448"/>
            <a:ext cx="274320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126480" y="13258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26480" y="1709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975104"/>
            <a:ext cx="274320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126480" y="2011680"/>
            <a:ext cx="27432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Blueprints Flask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student · admin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2606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2971800"/>
            <a:ext cx="201168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274320" y="29718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23160" y="2971800"/>
            <a:ext cx="201168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423160" y="29718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3.x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2971800"/>
            <a:ext cx="201168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572000" y="29718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Flask-SQLAlchemy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20840" y="2971800"/>
            <a:ext cx="201168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720840" y="29718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Flask-Login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566160"/>
            <a:ext cx="201168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274320" y="35661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Flask-WTF / WTForms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423160" y="3566160"/>
            <a:ext cx="201168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423160" y="35661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Flask-Bcrypt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3566160"/>
            <a:ext cx="201168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572000" y="35661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pyotp (TOTP)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20840" y="3566160"/>
            <a:ext cx="201168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6720840" y="35661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5.3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4160520"/>
            <a:ext cx="201168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274320" y="41605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4.x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423160" y="4160520"/>
            <a:ext cx="201168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2423160" y="41605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qrcodejs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0" y="4160520"/>
            <a:ext cx="201168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4572000" y="41605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PostgreSQL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20840" y="4160520"/>
            <a:ext cx="201168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6720840" y="41605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ES2020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Répartition des Rôles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420624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113385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46120" y="113385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42h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" y="1645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1 – Base de données &amp; Modèles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9202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 ·  seed.py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2157984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classes SQLAlchemy (User, Question, Option…)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des relations et clés étrangères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seed.py : 125 questions + comptes test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Flask : SECRET_KEY, timers, URI BDD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109728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800600" y="1097280"/>
            <a:ext cx="4206240" cy="5120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937760" y="113385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818120" y="113385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39h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92040" y="1645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2 –  Forms &amp; Config | Templates &amp; CSS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19202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 · static/css/style.css	forms.py config.py 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92040" y="2157984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mère base.html (navbar, alerts, blocs)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vues HTML (15 templates Jinja2)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sombre QCM + timer animé CSS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admin : dashboard Chart.js, stats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306324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28600" y="3063240"/>
            <a:ext cx="4206240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65760" y="309981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46120" y="309981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87h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20040" y="3611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3 – Routes Étudiant &amp; Admin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38862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routes/student.py · routes/admin.py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0040" y="4123944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QCM : tirage aléatoire, scoring /20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serveur du temps (anti-triche)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 admin : users, questions, quizzes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CSV, export résultats, stats avancées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306324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800600" y="3063240"/>
            <a:ext cx="4206240" cy="5120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937760" y="309981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Malcom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818120" y="309981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53h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892040" y="3611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4 – Auth · Forms · JS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38862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auth.py ·  app.py · qcm.js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92040" y="4123944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Inscription/connexion + 2FA TOTP (pyotp)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formulaires WTForms + validation CSRF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factory Flask (blueprints)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Anti-triche JS : fullscreen, timer, tab-switch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Fonctionnalités Étudiants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41605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44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2070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154680" y="1234440"/>
            <a:ext cx="109728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3154680" y="1234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Malcom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65760" y="173736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+ connexion sécurisée (bcrypt)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TOTP obligatoire (pyotp / RFC 6238)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session Flask-Login (httponly)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1115568"/>
            <a:ext cx="41605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2344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12070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QCM Adaptatif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635240" y="1234440"/>
            <a:ext cx="109728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7635240" y="1234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Hugo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846320" y="173736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questions tirées aléatoirement (ORDER BY RANDOM())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125 questions · 5 catégories IT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QCM libre ou quiz planifié avec fenêtre temporelle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28600" y="3035808"/>
            <a:ext cx="41605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15468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" y="31272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Anti-Triche JS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3154680" y="3154680"/>
            <a:ext cx="109728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6"/>
          <p:cNvSpPr/>
          <p:nvPr/>
        </p:nvSpPr>
        <p:spPr>
          <a:xfrm>
            <a:off x="3154680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Malcom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365760" y="365760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30s/question + validation totale serveur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Fullscreen API obligatoire · Détection tab-switch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Blocage copier-coller / F12 / raccourcis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709160" y="3035808"/>
            <a:ext cx="41605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15468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94960" y="31272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Historique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7635240" y="3154680"/>
            <a:ext cx="109728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1"/>
          <p:cNvSpPr/>
          <p:nvPr/>
        </p:nvSpPr>
        <p:spPr>
          <a:xfrm>
            <a:off x="7635240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Hugo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4846320" y="365760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/20 (2 pts/bonne réponse) + mention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détaillées par question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paginé + moyenne + meilleur score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Espace Administrateur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274320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28600" y="115214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28600" y="1755648"/>
            <a:ext cx="274320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115568"/>
            <a:ext cx="274320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200400" y="115214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125+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00400" y="1755648"/>
            <a:ext cx="274320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catégories)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0" y="1115568"/>
            <a:ext cx="2743200" cy="1097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172200" y="115214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172200" y="1755648"/>
            <a:ext cx="274320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Import/Export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questions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331720"/>
            <a:ext cx="54864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47472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métier – Hugo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" y="2670048"/>
            <a:ext cx="4251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 + graphique distribution des notes (Chart.js)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utilisateurs : recherche ilike, pagination 20/page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questions : filtres catégorie/difficulté + toggle actif/inactif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CSV avec validation ligne par ligne + rapport d'erreurs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planifiés CRUD : fenêtre temporelle, filtres catégorie/difficulté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0" y="2331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questions</a:t>
            </a:r>
            <a:endParaRPr lang="en-US" sz="13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5029200" y="2651760"/>
          <a:ext cx="38404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Sécurité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06640" y="182880"/>
            <a:ext cx="150876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406640" y="18288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Malcolm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01168" y="1005840"/>
            <a:ext cx="27432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11556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11155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01168" y="1600200"/>
            <a:ext cx="274320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292608" y="1664208"/>
            <a:ext cx="2514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Hachage + salt auto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 de coût (rounds)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Protège contre brute-force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163824" y="1005840"/>
            <a:ext cx="27432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111556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31336" y="11155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TOTP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163824" y="1600200"/>
            <a:ext cx="274320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/>
          <p:nvPr/>
        </p:nvSpPr>
        <p:spPr>
          <a:xfrm>
            <a:off x="3255264" y="1664208"/>
            <a:ext cx="2514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pyotp · RFC 6238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à l'inscription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valid_window=1 (±30s)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126480" y="1005840"/>
            <a:ext cx="27432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11556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93992" y="11155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+ Sessions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126480" y="1600200"/>
            <a:ext cx="274320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6"/>
          <p:cNvSpPr/>
          <p:nvPr/>
        </p:nvSpPr>
        <p:spPr>
          <a:xfrm>
            <a:off x="6217920" y="1664208"/>
            <a:ext cx="2514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Flask-WTF · token caché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· samesite=Lax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Expiration 1h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201168" y="3017520"/>
            <a:ext cx="27432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" y="3127248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68680" y="31272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+ SQL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201168" y="3611880"/>
            <a:ext cx="274320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0"/>
          <p:cNvSpPr/>
          <p:nvPr/>
        </p:nvSpPr>
        <p:spPr>
          <a:xfrm>
            <a:off x="292608" y="3675888"/>
            <a:ext cx="2514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Échappement Jinja2 auto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SQLAlchemy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(requêtes paramétrées)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3163824" y="3017520"/>
            <a:ext cx="27432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0984" y="3127248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831336" y="31272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d'accès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3163824" y="3611880"/>
            <a:ext cx="274320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4"/>
          <p:cNvSpPr/>
          <p:nvPr/>
        </p:nvSpPr>
        <p:spPr>
          <a:xfrm>
            <a:off x="3255264" y="3675888"/>
            <a:ext cx="2514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@login_required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@admin_required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 403 si violation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6126480" y="3017520"/>
            <a:ext cx="27432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127248"/>
            <a:ext cx="457200" cy="4572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793992" y="31272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Anti-triche serveur</a:t>
            </a:r>
            <a:endParaRPr lang="en-US" sz="1400" dirty="0"/>
          </a:p>
        </p:txBody>
      </p:sp>
      <p:sp>
        <p:nvSpPr>
          <p:cNvPr id="35" name="Shape 27"/>
          <p:cNvSpPr/>
          <p:nvPr/>
        </p:nvSpPr>
        <p:spPr>
          <a:xfrm>
            <a:off x="6126480" y="3611880"/>
            <a:ext cx="274320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28"/>
          <p:cNvSpPr/>
          <p:nvPr/>
        </p:nvSpPr>
        <p:spPr>
          <a:xfrm>
            <a:off x="6217920" y="3675888"/>
            <a:ext cx="2514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durée totale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QCM_MAX_DURATION=360s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CheatLog en base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Budget &amp; Planning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74320" y="11155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Décomposition du budget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481328"/>
          <a:ext cx="51206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577840" y="11155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financier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577840" y="1508760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687568" y="1508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1 – Youssef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16368" y="150876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42h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138160" y="150876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1 838 €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577840" y="1920240"/>
            <a:ext cx="54864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5687568" y="1920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2 – Salim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516368" y="192024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39h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38160" y="192024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1 706 €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577840" y="2331720"/>
            <a:ext cx="54864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5687568" y="2331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3 – Hugo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516368" y="233172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87h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138160" y="233172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3 806 €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577840" y="2743200"/>
            <a:ext cx="54864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5687568" y="2743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4 – Malcom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516368" y="274320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53h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138160" y="274320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2 319 €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577840" y="3154680"/>
            <a:ext cx="54864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5687568" y="3154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Docs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516368" y="315468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25h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138160" y="315468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1 094 €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577840" y="3602736"/>
            <a:ext cx="3383280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5577840" y="360273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246h   10 763 € HT   12 916 € TTC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274320" y="4133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– 13 jours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274320" y="4480560"/>
            <a:ext cx="1267499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/>
          <p:cNvSpPr/>
          <p:nvPr/>
        </p:nvSpPr>
        <p:spPr>
          <a:xfrm>
            <a:off x="274320" y="4480560"/>
            <a:ext cx="12674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274320" y="4736592"/>
            <a:ext cx="126749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J1–J2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1596683" y="4480560"/>
            <a:ext cx="2589862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2"/>
          <p:cNvSpPr/>
          <p:nvPr/>
        </p:nvSpPr>
        <p:spPr>
          <a:xfrm>
            <a:off x="1596683" y="4480560"/>
            <a:ext cx="25898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596683" y="4736592"/>
            <a:ext cx="25898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J2–J6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4241409" y="4480560"/>
            <a:ext cx="1928681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5"/>
          <p:cNvSpPr/>
          <p:nvPr/>
        </p:nvSpPr>
        <p:spPr>
          <a:xfrm>
            <a:off x="4241409" y="4480560"/>
            <a:ext cx="19286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241409" y="4736592"/>
            <a:ext cx="19286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J6–J9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6224954" y="4480560"/>
            <a:ext cx="1267499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8"/>
          <p:cNvSpPr/>
          <p:nvPr/>
        </p:nvSpPr>
        <p:spPr>
          <a:xfrm>
            <a:off x="6224954" y="4480560"/>
            <a:ext cx="12674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224954" y="4736592"/>
            <a:ext cx="126749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J9–J11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7547317" y="4480560"/>
            <a:ext cx="606318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1"/>
          <p:cNvSpPr/>
          <p:nvPr/>
        </p:nvSpPr>
        <p:spPr>
          <a:xfrm>
            <a:off x="7547317" y="4480560"/>
            <a:ext cx="6063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7547317" y="4736592"/>
            <a:ext cx="6063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J11–J12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8208498" y="4480560"/>
            <a:ext cx="606318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4"/>
          <p:cNvSpPr/>
          <p:nvPr/>
        </p:nvSpPr>
        <p:spPr>
          <a:xfrm>
            <a:off x="8208498" y="4480560"/>
            <a:ext cx="6063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8208498" y="4736592"/>
            <a:ext cx="6063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Bilan &amp; Perspectives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41605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41605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" y="116128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Livrables délivrés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627632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Flask 3.x complète et fonctionnelle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questions IT en BDD (5 catégories × 25)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complète : login, 2FA, rôles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QCM avec timer strict + anti-triche JS avancé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 : CRUD, stats Chart.js, import/export CSV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formulaires WTForms + protection CSRF globale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MVC propre (Blueprints Flask)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multicouche : bcrypt, CSRF, XSS, SQL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 · Devis · Documentation technique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individuelles × 4 développeurs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15568"/>
            <a:ext cx="4297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663440" y="1115568"/>
            <a:ext cx="42976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754880" y="11612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Améliorations futures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627632"/>
            <a:ext cx="4069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Docker + Nginx + PostgreSQL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+ front React/Vue découplé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QCM adaptatif (difficulté dynamique)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SQLite → PostgreSQL (production)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email (résultats, quiz planifiés)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PDF auto-généré par étudiant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SSO (LDAP / OAuth2)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examen surveillé (webcam)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41148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762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3200400" y="292608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57200" y="303580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3657600"/>
            <a:ext cx="1828800" cy="59436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548640" y="3657600"/>
            <a:ext cx="1828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48640" y="37490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KAROUITE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606040" y="3657600"/>
            <a:ext cx="1828800" cy="59436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2606040" y="3657600"/>
            <a:ext cx="18288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2606040" y="37490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Salim DAHOUMANE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663440" y="3657600"/>
            <a:ext cx="1828800" cy="59436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4663440" y="3657600"/>
            <a:ext cx="18288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4663440" y="37490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Hugo LECOMTE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720840" y="3657600"/>
            <a:ext cx="1828800" cy="59436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6720840" y="3657600"/>
            <a:ext cx="18288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6720840" y="37490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Malcom CAMACHO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7200" y="44074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ASSR – UPEC  ·  Bachelor PST&amp;B  ·  2025–2026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1072</Words>
  <Application>Microsoft Office PowerPoint</Application>
  <PresentationFormat>Affichage à l'écran (16:9)</PresentationFormat>
  <Paragraphs>250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QCM Sécurisé – Projet 2 LPASSR</dc:title>
  <dc:subject>PptxGenJS Presentation</dc:subject>
  <dc:creator>Youssef · Salim · Hugo · Malcolm</dc:creator>
  <cp:lastModifiedBy>youssef karouite</cp:lastModifiedBy>
  <cp:revision>4</cp:revision>
  <dcterms:created xsi:type="dcterms:W3CDTF">2026-05-10T17:45:13Z</dcterms:created>
  <dcterms:modified xsi:type="dcterms:W3CDTF">2026-05-10T21:18:10Z</dcterms:modified>
</cp:coreProperties>
</file>